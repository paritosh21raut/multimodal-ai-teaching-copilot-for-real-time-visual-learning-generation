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8-bit vs 16-bit vs 32-bit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Microcontrollers differ by data width.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Higher width can support larger data operations.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828800"/>
            <a:ext cx="4343400" cy="3566160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901952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Comparison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453128" y="2423160"/>
          <a:ext cx="394106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265"/>
                <a:gridCol w="985265"/>
                <a:gridCol w="985265"/>
                <a:gridCol w="985265"/>
              </a:tblGrid>
              <a:tr h="929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C3C3C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C3C3C"/>
                          </a:solidFill>
                        </a:defRPr>
                      </a:pPr>
                      <a:r>
                        <a:t>8-bit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C3C3C"/>
                          </a:solidFill>
                        </a:defRPr>
                      </a:pPr>
                      <a:r>
                        <a:t>16-bit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C3C3C"/>
                          </a:solidFill>
                        </a:defRPr>
                      </a:pPr>
                      <a:r>
                        <a:t>32-bit</a:t>
                      </a:r>
                    </a:p>
                  </a:txBody>
                  <a:tcPr marL="36576" marR="36576" marT="27432" marB="27432"/>
                </a:tc>
              </a:tr>
              <a:tr h="929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C3C3C"/>
                          </a:solidFill>
                        </a:defRPr>
                      </a:pPr>
                      <a:r>
                        <a:t>Data width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C3C3C"/>
                          </a:solidFill>
                        </a:defRPr>
                      </a:pPr>
                      <a:r>
                        <a:t>8 bits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C3C3C"/>
                          </a:solidFill>
                        </a:defRPr>
                      </a:pPr>
                      <a:r>
                        <a:t>16 bits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C3C3C"/>
                          </a:solidFill>
                        </a:defRPr>
                      </a:pPr>
                      <a:r>
                        <a:t>32 bits</a:t>
                      </a:r>
                    </a:p>
                  </a:txBody>
                  <a:tcPr marL="36576" marR="36576" marT="27432" marB="27432"/>
                </a:tc>
              </a:tr>
              <a:tr h="929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C3C3C"/>
                          </a:solidFill>
                        </a:defRPr>
                      </a:pPr>
                      <a:r>
                        <a:t>Typical use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C3C3C"/>
                          </a:solidFill>
                        </a:defRPr>
                      </a:pPr>
                      <a:r>
                        <a:t>Simple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C3C3C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C3C3C"/>
                          </a:solidFill>
                        </a:defRPr>
                      </a:pPr>
                      <a:r>
                        <a:t>Advanced</a:t>
                      </a:r>
                    </a:p>
                  </a:txBody>
                  <a:tcPr marL="36576" marR="36576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