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Basics of computer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Basics of computer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Types of computer network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56296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85800"/>
            <a:ext cx="5452741" cy="514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060" spc="-45">
                <a:solidFill>
                  <a:srgbClr val="16191D"/>
                </a:solidFill>
                <a:latin typeface="Segoe UI"/>
              </a:rPr>
              <a:t>Basics of computer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7395" y="875010"/>
            <a:ext cx="98028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90" spc="77">
                <a:solidFill>
                  <a:srgbClr val="0E6E66"/>
                </a:solidFill>
                <a:latin typeface="Segoe U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" y="1482427"/>
            <a:ext cx="866378" cy="165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950" spc="113">
                <a:solidFill>
                  <a:srgbClr val="FFFFFF"/>
                </a:solidFill>
                <a:latin typeface="Segoe U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806277"/>
            <a:ext cx="5160047" cy="6438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70"/>
              </a:lnSpc>
            </a:pPr>
            <a:r>
              <a:rPr b="0" i="0" sz="1889">
                <a:solidFill>
                  <a:srgbClr val="16191D"/>
                </a:solidFill>
                <a:latin typeface="Segoe UI"/>
              </a:rPr>
              <a:t>a collection of interconnected devices that communicate to exchange data and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074888"/>
            <a:ext cx="6222283" cy="5167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9"/>
              </a:lnSpc>
            </a:pPr>
            <a:r>
              <a:rPr b="0" i="0" sz="1530">
                <a:solidFill>
                  <a:srgbClr val="16191D"/>
                </a:solidFill>
                <a:latin typeface="Segoe UI"/>
              </a:rPr>
              <a:t>Resources enable efficient communication and support services such as email, file sharing, and internet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" y="4127400"/>
            <a:ext cx="737592" cy="31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889" spc="-37">
                <a:solidFill>
                  <a:srgbClr val="0E6E66"/>
                </a:solidFill>
                <a:latin typeface="Segoe UI"/>
              </a:rPr>
              <a:t>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900" y="4506317"/>
            <a:ext cx="1442958" cy="13168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</a:pPr>
            <a:r>
              <a:rPr b="0" i="0" sz="1530">
                <a:solidFill>
                  <a:srgbClr val="3D444D"/>
                </a:solidFill>
                <a:latin typeface="Segoe UI"/>
              </a:rPr>
              <a:t>Physical devices such as computers, mobiles, or printers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367" y="4127400"/>
            <a:ext cx="1378487" cy="5694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4"/>
              </a:lnSpc>
            </a:pPr>
            <a:r>
              <a:rPr b="1" i="0" sz="1889" spc="-37">
                <a:solidFill>
                  <a:srgbClr val="0E6E66"/>
                </a:solidFill>
                <a:latin typeface="Segoe UI"/>
              </a:rPr>
              <a:t>Routers and switches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367" y="4758233"/>
            <a:ext cx="1467568" cy="524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</a:pPr>
            <a:r>
              <a:rPr b="0" i="0" sz="1530">
                <a:solidFill>
                  <a:srgbClr val="3D444D"/>
                </a:solidFill>
                <a:latin typeface="Segoe UI"/>
              </a:rPr>
              <a:t>Control the flow of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933" y="4127400"/>
            <a:ext cx="1487971" cy="5694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4"/>
              </a:lnSpc>
            </a:pPr>
            <a:r>
              <a:rPr b="1" i="0" sz="1889" spc="-37">
                <a:solidFill>
                  <a:srgbClr val="0E6E66"/>
                </a:solidFill>
                <a:latin typeface="Segoe UI"/>
              </a:rPr>
              <a:t>Transmission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933" y="4758233"/>
            <a:ext cx="1568217" cy="7885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</a:pPr>
            <a:r>
              <a:rPr b="0" i="0" sz="1530">
                <a:solidFill>
                  <a:srgbClr val="3D444D"/>
                </a:solidFill>
                <a:latin typeface="Segoe UI"/>
              </a:rPr>
              <a:t>Carries data from one device to another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56296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66750"/>
            <a:ext cx="7876111" cy="742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4420" spc="-66">
                <a:solidFill>
                  <a:srgbClr val="16191D"/>
                </a:solidFill>
                <a:latin typeface="Segoe UI"/>
              </a:rPr>
              <a:t>Basics of computer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33593" y="948531"/>
            <a:ext cx="211236" cy="3111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860" spc="111">
                <a:solidFill>
                  <a:srgbClr val="0E6E66"/>
                </a:solidFill>
                <a:latin typeface="Segoe U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3325911"/>
            <a:ext cx="2425158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140" spc="-62">
                <a:solidFill>
                  <a:srgbClr val="0E6E66"/>
                </a:solidFill>
                <a:latin typeface="Segoe UI"/>
              </a:rPr>
              <a:t>Wired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3902571"/>
            <a:ext cx="5387955" cy="374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2210">
                <a:solidFill>
                  <a:srgbClr val="3D444D"/>
                </a:solidFill>
                <a:latin typeface="Segoe UI"/>
              </a:rPr>
              <a:t>Includes Ethernet and optical fiber cables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77450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79450"/>
            <a:ext cx="1801594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400" spc="-51">
                <a:solidFill>
                  <a:srgbClr val="16191D"/>
                </a:solidFill>
                <a:latin typeface="Segoe UI"/>
              </a:rPr>
              <a:t>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2917" y="891778"/>
            <a:ext cx="104775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430" spc="85">
                <a:solidFill>
                  <a:srgbClr val="0E6E66"/>
                </a:solidFill>
                <a:latin typeface="Segoe U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401167"/>
            <a:ext cx="3278102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Enables devices to communicate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143323"/>
            <a:ext cx="2185997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Allows data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885479"/>
            <a:ext cx="3781980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Uses a shared communication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627635"/>
            <a:ext cx="7903245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Follows predefined rules to ensure accurate, efficient, secure data transmission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369792"/>
            <a:ext cx="10381726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A network consists of nodes such as computers, servers, routers, and switches that send or receive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5111948"/>
            <a:ext cx="10331453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Nodes are connected by links, which may be wired (cable, optical fiber) or wireless (Wi‑Fi radio signals)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5854104"/>
            <a:ext cx="5381434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Data is broken into small packets before transmission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77450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66750"/>
            <a:ext cx="2342072" cy="742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4420" spc="-66">
                <a:solidFill>
                  <a:srgbClr val="16191D"/>
                </a:solidFill>
                <a:latin typeface="Segoe UI"/>
              </a:rPr>
              <a:t>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2802" y="948531"/>
            <a:ext cx="211236" cy="3111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860" spc="111">
                <a:solidFill>
                  <a:srgbClr val="0E6E66"/>
                </a:solidFill>
                <a:latin typeface="Segoe U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2263675"/>
            <a:ext cx="1839456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140" spc="-62">
                <a:solidFill>
                  <a:srgbClr val="0E6E66"/>
                </a:solidFill>
                <a:latin typeface="Segoe UI"/>
              </a:rPr>
              <a:t>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2840335"/>
            <a:ext cx="4787634" cy="11380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5"/>
              </a:lnSpc>
            </a:pPr>
            <a:r>
              <a:rPr b="0" i="0" sz="2210">
                <a:solidFill>
                  <a:srgbClr val="3D444D"/>
                </a:solidFill>
                <a:latin typeface="Segoe UI"/>
              </a:rPr>
              <a:t>Define how data packets are formatted, transmitted, received and acknowledged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" y="4480718"/>
            <a:ext cx="3952990" cy="3111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860">
                <a:solidFill>
                  <a:srgbClr val="16191D"/>
                </a:solidFill>
                <a:latin typeface="Segoe UI"/>
              </a:rPr>
              <a:t>Each device has a unique IP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" y="4832846"/>
            <a:ext cx="4807511" cy="6251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72"/>
              </a:lnSpc>
            </a:pPr>
            <a:r>
              <a:rPr b="0" i="0" sz="1860">
                <a:solidFill>
                  <a:srgbClr val="16191D"/>
                </a:solidFill>
                <a:latin typeface="Segoe UI"/>
              </a:rPr>
              <a:t>Switches and routers forward packets along the best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263675"/>
            <a:ext cx="1650882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140" spc="-62">
                <a:solidFill>
                  <a:srgbClr val="0E6E66"/>
                </a:solidFill>
                <a:latin typeface="Segoe UI"/>
              </a:rPr>
              <a:t>Firewalls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2840335"/>
            <a:ext cx="4372520" cy="75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5"/>
              </a:lnSpc>
            </a:pPr>
            <a:r>
              <a:rPr b="0" i="0" sz="2210">
                <a:solidFill>
                  <a:srgbClr val="3D444D"/>
                </a:solidFill>
                <a:latin typeface="Segoe UI"/>
              </a:rPr>
              <a:t>monitor traffic and allow or block data based on security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3742436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TYPES OF COMPUTER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66750"/>
            <a:ext cx="10997086" cy="742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4420" spc="-66">
                <a:solidFill>
                  <a:srgbClr val="16191D"/>
                </a:solidFill>
                <a:latin typeface="Segoe UI"/>
              </a:rPr>
              <a:t>Types of computer network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2504975"/>
            <a:ext cx="7114561" cy="374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2210">
                <a:solidFill>
                  <a:srgbClr val="16191D"/>
                </a:solidFill>
                <a:latin typeface="Segoe UI"/>
              </a:rPr>
              <a:t>Computer Network falls under these broad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3396158"/>
            <a:ext cx="4937609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140" spc="-62">
                <a:solidFill>
                  <a:srgbClr val="0E6E66"/>
                </a:solidFill>
                <a:latin typeface="Segoe UI"/>
              </a:rPr>
              <a:t>Client-server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3972817"/>
            <a:ext cx="4586440" cy="11380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5"/>
              </a:lnSpc>
            </a:pPr>
            <a:r>
              <a:rPr b="0" i="0" sz="2210">
                <a:solidFill>
                  <a:srgbClr val="3D444D"/>
                </a:solidFill>
                <a:latin typeface="Segoe UI"/>
              </a:rPr>
              <a:t>A network type where nodes act as servers or clients, and the server controls client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396158"/>
            <a:ext cx="4909528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140" spc="-62">
                <a:solidFill>
                  <a:srgbClr val="0E6E66"/>
                </a:solidFill>
                <a:latin typeface="Segoe UI"/>
              </a:rPr>
              <a:t>Peer-to-peer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972817"/>
            <a:ext cx="4903428" cy="11380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5"/>
              </a:lnSpc>
            </a:pPr>
            <a:r>
              <a:rPr b="0" i="0" sz="2210">
                <a:solidFill>
                  <a:srgbClr val="3D444D"/>
                </a:solidFill>
                <a:latin typeface="Segoe UI"/>
              </a:rPr>
              <a:t>A network type that operates without a central server, allowing each device to act as a client or a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150248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79450"/>
            <a:ext cx="351274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400" spc="-51">
                <a:solidFill>
                  <a:srgbClr val="16191D"/>
                </a:solidFill>
                <a:latin typeface="Segoe UI"/>
              </a:rPr>
              <a:t>Network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7206" y="891778"/>
            <a:ext cx="104775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430" spc="85">
                <a:solidFill>
                  <a:srgbClr val="0E6E66"/>
                </a:solidFill>
                <a:latin typeface="Segoe U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977330"/>
            <a:ext cx="8546582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Physical devices that connect computers, printers, and other equipment to a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719486"/>
            <a:ext cx="4761130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Enable data sharing, transfer, and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7900" y="3544192"/>
            <a:ext cx="981174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410" spc="-48">
                <a:solidFill>
                  <a:srgbClr val="0E6E66"/>
                </a:solidFill>
                <a:latin typeface="Segoe UI"/>
              </a:rPr>
              <a:t>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" y="4002385"/>
            <a:ext cx="4369891" cy="879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A networking device that connects multiple networks and directs data between them; connects local networks to the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0300" y="5378450"/>
            <a:ext cx="4211923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Routers use an IP address to forward data directly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544192"/>
            <a:ext cx="1114524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410" spc="-48">
                <a:solidFill>
                  <a:srgbClr val="0E6E66"/>
                </a:solidFill>
                <a:latin typeface="Segoe UI"/>
              </a:rPr>
              <a:t>Dijkstra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002385"/>
            <a:ext cx="4666896" cy="585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Algorithm that finds the shortest path for data packets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150248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79450"/>
            <a:ext cx="351274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400" spc="-51">
                <a:solidFill>
                  <a:srgbClr val="16191D"/>
                </a:solidFill>
                <a:latin typeface="Segoe UI"/>
              </a:rPr>
              <a:t>Network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7206" y="891778"/>
            <a:ext cx="171350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430" spc="85">
                <a:solidFill>
                  <a:srgbClr val="0E6E66"/>
                </a:solidFill>
                <a:latin typeface="Segoe U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2076846"/>
            <a:ext cx="98286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410" spc="-48">
                <a:solidFill>
                  <a:srgbClr val="0E6E66"/>
                </a:solidFill>
                <a:latin typeface="Segoe UI"/>
              </a:rPr>
              <a:t>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2535039"/>
            <a:ext cx="5174561" cy="585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A networking device that connects multiple devices within a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300" y="3617515"/>
            <a:ext cx="3272422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Connects devices within same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" y="3897114"/>
            <a:ext cx="3632952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Manages internal network data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614862"/>
            <a:ext cx="5297191" cy="862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4"/>
              </a:lnSpc>
            </a:pPr>
            <a:r>
              <a:rPr b="0" i="0" sz="1700">
                <a:solidFill>
                  <a:srgbClr val="16191D"/>
                </a:solidFill>
                <a:latin typeface="Segoe UI"/>
              </a:rPr>
              <a:t>Connects computers, printers and servers, sending data only to the intended device, improving network efficiency and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150248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79450"/>
            <a:ext cx="351274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400" spc="-51">
                <a:solidFill>
                  <a:srgbClr val="16191D"/>
                </a:solidFill>
                <a:latin typeface="Segoe UI"/>
              </a:rPr>
              <a:t>Network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7206" y="891778"/>
            <a:ext cx="237926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430" spc="85">
                <a:solidFill>
                  <a:srgbClr val="0E6E66"/>
                </a:solidFill>
                <a:latin typeface="Segoe UI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1660425"/>
            <a:ext cx="547489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 spc="-42">
                <a:solidFill>
                  <a:srgbClr val="0E6E66"/>
                </a:solidFill>
                <a:latin typeface="Segoe UI"/>
              </a:rPr>
              <a:t>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2067421"/>
            <a:ext cx="3030001" cy="146645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A basic device that connects multiple devices into a network, broadcasting data to all connected devices without filtering; less…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3933" y="1660425"/>
            <a:ext cx="832842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 spc="-42">
                <a:solidFill>
                  <a:srgbClr val="0E6E66"/>
                </a:solidFill>
                <a:latin typeface="Segoe UI"/>
              </a:rPr>
              <a:t>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933" y="2067421"/>
            <a:ext cx="2675677" cy="879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corrects two network segments and filters traffic between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6333" y="3443485"/>
            <a:ext cx="2222281" cy="4826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1"/>
              </a:lnSpc>
            </a:pPr>
            <a:r>
              <a:rPr b="0" i="0" sz="1430">
                <a:solidFill>
                  <a:srgbClr val="16191D"/>
                </a:solidFill>
                <a:latin typeface="Segoe UI"/>
              </a:rPr>
              <a:t>Reduces unnecessary data transmission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6333" y="3964384"/>
            <a:ext cx="2662426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Improves network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6333" y="4243982"/>
            <a:ext cx="2788947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Bridge connects similar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9967" y="1660425"/>
            <a:ext cx="1089917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 spc="-42">
                <a:solidFill>
                  <a:srgbClr val="0E6E66"/>
                </a:solidFill>
                <a:latin typeface="Segoe UI"/>
              </a:rPr>
              <a:t>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9967" y="2067421"/>
            <a:ext cx="2684722" cy="17600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Connects two different methods that use different protocols, translates data between systems, enables communication, and commonly…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2367" y="4324250"/>
            <a:ext cx="1031577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Access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2367" y="4603849"/>
            <a:ext cx="392509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EPIC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2367" y="4883447"/>
            <a:ext cx="2376253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430">
                <a:solidFill>
                  <a:srgbClr val="16191D"/>
                </a:solidFill>
                <a:latin typeface="Segoe UI"/>
              </a:rPr>
              <a:t>Proverge wireless continuity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5601196"/>
            <a:ext cx="3525361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Switch works using MAC addresses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150248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79450"/>
            <a:ext cx="351274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400" spc="-51">
                <a:solidFill>
                  <a:srgbClr val="16191D"/>
                </a:solidFill>
                <a:latin typeface="Segoe UI"/>
              </a:rPr>
              <a:t>Network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7206" y="891778"/>
            <a:ext cx="237827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430" spc="85">
                <a:solidFill>
                  <a:srgbClr val="0E6E66"/>
                </a:solidFill>
                <a:latin typeface="Segoe UI"/>
              </a:rPr>
              <a:t>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1878111"/>
            <a:ext cx="1613967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 spc="-42">
                <a:solidFill>
                  <a:srgbClr val="0E6E66"/>
                </a:solidFill>
                <a:latin typeface="Segoe UI"/>
              </a:rPr>
              <a:t>Access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2285107"/>
            <a:ext cx="3050405" cy="146645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Extends a wired network into Wi‑Fi, allowing mobile devices to connect wirelessly and improving network coverage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3933" y="1878111"/>
            <a:ext cx="977503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 spc="-42">
                <a:solidFill>
                  <a:srgbClr val="0E6E66"/>
                </a:solidFill>
                <a:latin typeface="Segoe UI"/>
              </a:rPr>
              <a:t>Modem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933" y="2285107"/>
            <a:ext cx="3076172" cy="11728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Converts digital signal to analog and back, connecting a home or office network to the ISP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9967" y="1878111"/>
            <a:ext cx="960437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 spc="-42">
                <a:solidFill>
                  <a:srgbClr val="0E6E66"/>
                </a:solidFill>
                <a:latin typeface="Segoe UI"/>
              </a:rPr>
              <a:t>Firewall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9967" y="2285107"/>
            <a:ext cx="2933138" cy="146645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A security device that monitors and controls incoming and outgoing network traffic based on predetermined security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4343598"/>
            <a:ext cx="2743513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Blocks unauthorized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4800" y="4343598"/>
            <a:ext cx="3544502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Filters incoming and outgoing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5098454"/>
            <a:ext cx="3619805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700">
                <a:solidFill>
                  <a:srgbClr val="16191D"/>
                </a:solidFill>
                <a:latin typeface="Segoe UI"/>
              </a:rPr>
              <a:t>Protects network from cyber 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800" y="5098454"/>
            <a:ext cx="4759448" cy="577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4"/>
              </a:lnSpc>
            </a:pPr>
            <a:r>
              <a:rPr b="0" i="0" sz="1700">
                <a:solidFill>
                  <a:srgbClr val="16191D"/>
                </a:solidFill>
                <a:latin typeface="Segoe UI"/>
              </a:rPr>
              <a:t>Resource sharing allows multiple users to share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150248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66750"/>
            <a:ext cx="4566457" cy="742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4420" spc="-66">
                <a:solidFill>
                  <a:srgbClr val="16191D"/>
                </a:solidFill>
                <a:latin typeface="Segoe UI"/>
              </a:rPr>
              <a:t>Network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1278" y="948531"/>
            <a:ext cx="211137" cy="3111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860" spc="111">
                <a:solidFill>
                  <a:srgbClr val="0E6E66"/>
                </a:solidFill>
                <a:latin typeface="Segoe UI"/>
              </a:rP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2685256"/>
            <a:ext cx="5447377" cy="7451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17"/>
              </a:lnSpc>
            </a:pPr>
            <a:r>
              <a:rPr b="0" i="0" sz="2210">
                <a:solidFill>
                  <a:srgbClr val="16191D"/>
                </a:solidFill>
                <a:latin typeface="Segoe UI"/>
              </a:rPr>
              <a:t>Enables efficient use of software and data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83421"/>
            <a:ext cx="4983043" cy="1115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17"/>
              </a:lnSpc>
            </a:pPr>
            <a:r>
              <a:rPr b="0" i="0" sz="2210">
                <a:solidFill>
                  <a:srgbClr val="16191D"/>
                </a:solidFill>
                <a:latin typeface="Segoe UI"/>
              </a:rPr>
              <a:t>Provides Internet and cloud access for online services and cloud‑based applications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81337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529" y="457200"/>
            <a:ext cx="150248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85800"/>
            <a:ext cx="3161466" cy="514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060" spc="-45">
                <a:solidFill>
                  <a:srgbClr val="16191D"/>
                </a:solidFill>
                <a:latin typeface="Segoe UI"/>
              </a:rPr>
              <a:t>Network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85815" y="875010"/>
            <a:ext cx="217785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90" spc="77">
                <a:solidFill>
                  <a:srgbClr val="0E6E66"/>
                </a:solidFill>
                <a:latin typeface="Segoe UI"/>
              </a:rPr>
              <a:t>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678582"/>
            <a:ext cx="5313283" cy="5167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9"/>
              </a:lnSpc>
            </a:pPr>
            <a:r>
              <a:rPr b="0" i="0" sz="1530">
                <a:solidFill>
                  <a:srgbClr val="16191D"/>
                </a:solidFill>
                <a:latin typeface="Segoe UI"/>
              </a:rPr>
              <a:t>Cost efficiency: reduce operational and infrastructure costs via shared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648545"/>
            <a:ext cx="5134070" cy="5167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9"/>
              </a:lnSpc>
            </a:pPr>
            <a:r>
              <a:rPr b="0" i="0" sz="1530">
                <a:solidFill>
                  <a:srgbClr val="16191D"/>
                </a:solidFill>
                <a:latin typeface="Segoe UI"/>
              </a:rPr>
              <a:t>Reliability and availability: improve system reliability with backup paths and fault‑tolerant mechanisms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618507"/>
            <a:ext cx="5086742" cy="5167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9"/>
              </a:lnSpc>
            </a:pPr>
            <a:r>
              <a:rPr b="0" i="0" sz="1530">
                <a:solidFill>
                  <a:srgbClr val="16191D"/>
                </a:solidFill>
                <a:latin typeface="Segoe UI"/>
              </a:rPr>
              <a:t>Scalability: support easy expansion by adding devices as demand grows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588470"/>
            <a:ext cx="4247471" cy="260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530">
                <a:solidFill>
                  <a:srgbClr val="16191D"/>
                </a:solidFill>
                <a:latin typeface="Segoe UI"/>
              </a:rPr>
              <a:t>Growth: add new services as demand increases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5302150"/>
            <a:ext cx="5236402" cy="5167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9"/>
              </a:lnSpc>
            </a:pPr>
            <a:r>
              <a:rPr b="0" i="0" sz="1530">
                <a:solidFill>
                  <a:srgbClr val="16191D"/>
                </a:solidFill>
                <a:latin typeface="Segoe UI"/>
              </a:rPr>
              <a:t>Security and control: protects data and network resources using authentication, access control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