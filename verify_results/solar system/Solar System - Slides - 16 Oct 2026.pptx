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Inner vs Outer planets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Dwarf Planets and Kuiper Belt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Galactic Bodies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15669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5392" y="457200"/>
            <a:ext cx="81627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79450"/>
            <a:ext cx="2673574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400" spc="-51">
                <a:solidFill>
                  <a:srgbClr val="16191D"/>
                </a:solidFill>
                <a:latin typeface="Segoe UI"/>
              </a:rPr>
              <a:t>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5539" y="891778"/>
            <a:ext cx="104775" cy="241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430" spc="85">
                <a:solidFill>
                  <a:srgbClr val="0E6E66"/>
                </a:solidFill>
                <a:latin typeface="Segoe U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1645840"/>
            <a:ext cx="1871007" cy="222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300" spc="26">
                <a:solidFill>
                  <a:srgbClr val="6B7380"/>
                </a:solidFill>
                <a:latin typeface="Segoe UI"/>
              </a:rPr>
              <a:t>Gravitationally 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1903015"/>
            <a:ext cx="1702206" cy="355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00">
                <a:solidFill>
                  <a:srgbClr val="16191D"/>
                </a:solidFill>
                <a:latin typeface="Segoe UI"/>
              </a:rPr>
              <a:t>Solar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9700" y="1645840"/>
            <a:ext cx="1287363" cy="222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300" spc="26">
                <a:solidFill>
                  <a:srgbClr val="6B7380"/>
                </a:solidFill>
                <a:latin typeface="Segoe UI"/>
              </a:rPr>
              <a:t>Formation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9700" y="1903015"/>
            <a:ext cx="2069256" cy="6622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5"/>
              </a:lnSpc>
            </a:pPr>
            <a:r>
              <a:rPr b="1" i="0" sz="2100">
                <a:solidFill>
                  <a:srgbClr val="16191D"/>
                </a:solidFill>
                <a:latin typeface="Segoe UI"/>
              </a:rPr>
              <a:t>4.6 billion years 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037085"/>
            <a:ext cx="729952" cy="222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300" spc="26">
                <a:solidFill>
                  <a:srgbClr val="6B7380"/>
                </a:solidFill>
                <a:latin typeface="Segoe UI"/>
              </a:rPr>
              <a:t>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294260"/>
            <a:ext cx="2345543" cy="6622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5"/>
              </a:lnSpc>
            </a:pPr>
            <a:r>
              <a:rPr b="1" i="0" sz="2100">
                <a:solidFill>
                  <a:srgbClr val="16191D"/>
                </a:solidFill>
                <a:latin typeface="Segoe UI"/>
              </a:rPr>
              <a:t>Orion Arm of the Milky Way Galaxy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900" y="4491831"/>
            <a:ext cx="1879526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410" spc="-48">
                <a:solidFill>
                  <a:srgbClr val="0E6E66"/>
                </a:solidFill>
                <a:latin typeface="Segoe UI"/>
              </a:rPr>
              <a:t>Solar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00" y="4950023"/>
            <a:ext cx="5418665" cy="8792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2"/>
              </a:lnSpc>
            </a:pPr>
            <a:r>
              <a:rPr b="0" i="0" sz="1700">
                <a:solidFill>
                  <a:srgbClr val="3D444D"/>
                </a:solidFill>
                <a:latin typeface="Segoe UI"/>
              </a:rPr>
              <a:t>The system consisting of the Sun and the objects that orbit it, including eight planets, dwarf planets, moons, asteroids and comets.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15669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5392" y="457200"/>
            <a:ext cx="81627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85800"/>
            <a:ext cx="2138880" cy="463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720" spc="-40">
                <a:solidFill>
                  <a:srgbClr val="16191D"/>
                </a:solidFill>
                <a:latin typeface="Segoe UI"/>
              </a:rPr>
              <a:t>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1111" y="851991"/>
            <a:ext cx="144660" cy="196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140" spc="68">
                <a:solidFill>
                  <a:srgbClr val="0E6E66"/>
                </a:solidFill>
                <a:latin typeface="Segoe UI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-37603"/>
            <a:ext cx="2885074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100" spc="88">
                <a:solidFill>
                  <a:srgbClr val="6B7380"/>
                </a:solidFill>
                <a:latin typeface="Segoe UI"/>
              </a:rPr>
              <a:t>ORDER OF PLANETS FROM THE SUN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261" y="515838"/>
            <a:ext cx="104477" cy="203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00">
                <a:solidFill>
                  <a:srgbClr val="0E6E66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4300" y="451346"/>
            <a:ext cx="664765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360">
                <a:solidFill>
                  <a:srgbClr val="16191D"/>
                </a:solidFill>
                <a:latin typeface="Segoe UI"/>
              </a:rPr>
              <a:t>Mercury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5645" y="1303238"/>
            <a:ext cx="125809" cy="203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00">
                <a:solidFill>
                  <a:srgbClr val="0E6E66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4300" y="1238746"/>
            <a:ext cx="6955647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360">
                <a:solidFill>
                  <a:srgbClr val="16191D"/>
                </a:solidFill>
                <a:latin typeface="Segoe UI"/>
              </a:rPr>
              <a:t>Venus: dense toxic sulfuric acid atmosphere; greenhouse effect makes it hottest planet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5645" y="2090638"/>
            <a:ext cx="125809" cy="203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00">
                <a:solidFill>
                  <a:srgbClr val="0E6E66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4300" y="2026146"/>
            <a:ext cx="7385169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360">
                <a:solidFill>
                  <a:srgbClr val="16191D"/>
                </a:solidFill>
                <a:latin typeface="Segoe UI"/>
              </a:rPr>
              <a:t>Earth, the third planet from the Sun and the only known astronomical body that harbors 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5645" y="2878038"/>
            <a:ext cx="125809" cy="203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00">
                <a:solidFill>
                  <a:srgbClr val="0E6E66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4300" y="2813546"/>
            <a:ext cx="7482453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360">
                <a:solidFill>
                  <a:srgbClr val="16191D"/>
                </a:solidFill>
                <a:latin typeface="Segoe UI"/>
              </a:rPr>
              <a:t>Mars, the red planet with iron‑oxide surface, polar ice caps, and past evidence of liquid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5645" y="3665438"/>
            <a:ext cx="125809" cy="203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00">
                <a:solidFill>
                  <a:srgbClr val="0E6E66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4300" y="3600946"/>
            <a:ext cx="7332583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360">
                <a:solidFill>
                  <a:srgbClr val="16191D"/>
                </a:solidFill>
                <a:latin typeface="Segoe UI"/>
              </a:rPr>
              <a:t>Jupiter – the largest planet, a massive gas giant with a great red spot and dozens of moons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645" y="4452838"/>
            <a:ext cx="125809" cy="203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00">
                <a:solidFill>
                  <a:srgbClr val="0E6E66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4300" y="4388346"/>
            <a:ext cx="531812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360">
                <a:solidFill>
                  <a:srgbClr val="16191D"/>
                </a:solidFill>
                <a:latin typeface="Segoe UI"/>
              </a:rPr>
              <a:t>Saturn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5645" y="5240238"/>
            <a:ext cx="125809" cy="203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00">
                <a:solidFill>
                  <a:srgbClr val="0E6E66"/>
                </a:solidFill>
                <a:latin typeface="Segoe U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5175746"/>
            <a:ext cx="573484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360">
                <a:solidFill>
                  <a:srgbClr val="16191D"/>
                </a:solidFill>
                <a:latin typeface="Segoe UI"/>
              </a:rPr>
              <a:t>Uranus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645" y="6027638"/>
            <a:ext cx="125809" cy="203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00">
                <a:solidFill>
                  <a:srgbClr val="0E6E66"/>
                </a:solidFill>
                <a:latin typeface="Segoe U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4300" y="5963146"/>
            <a:ext cx="70356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360">
                <a:solidFill>
                  <a:srgbClr val="16191D"/>
                </a:solidFill>
                <a:latin typeface="Segoe UI"/>
              </a:rPr>
              <a:t>Neptune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6826746"/>
            <a:ext cx="1029592" cy="1714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040" spc="20">
                <a:solidFill>
                  <a:srgbClr val="6B7380"/>
                </a:solidFill>
                <a:latin typeface="Segoe UI"/>
              </a:rPr>
              <a:t>Smallest planet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7042546"/>
            <a:ext cx="897334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680">
                <a:solidFill>
                  <a:srgbClr val="16191D"/>
                </a:solidFill>
                <a:latin typeface="Segoe UI"/>
              </a:rPr>
              <a:t>Mercury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133" y="6826746"/>
            <a:ext cx="953789" cy="1714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040" spc="20">
                <a:solidFill>
                  <a:srgbClr val="6B7380"/>
                </a:solidFill>
                <a:latin typeface="Segoe UI"/>
              </a:rPr>
              <a:t>Closest to Sun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3133" y="7042546"/>
            <a:ext cx="897334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680">
                <a:solidFill>
                  <a:srgbClr val="16191D"/>
                </a:solidFill>
                <a:latin typeface="Segoe UI"/>
              </a:rPr>
              <a:t>Mercury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3767" y="6826746"/>
            <a:ext cx="927496" cy="1714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040" spc="20">
                <a:solidFill>
                  <a:srgbClr val="6B7380"/>
                </a:solidFill>
                <a:latin typeface="Segoe UI"/>
              </a:rPr>
              <a:t>Rocky 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3767" y="7042546"/>
            <a:ext cx="897334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680">
                <a:solidFill>
                  <a:srgbClr val="16191D"/>
                </a:solidFill>
                <a:latin typeface="Segoe UI"/>
              </a:rPr>
              <a:t>Mercury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15669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5392" y="457200"/>
            <a:ext cx="81627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85800"/>
            <a:ext cx="2406227" cy="514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060" spc="-45">
                <a:solidFill>
                  <a:srgbClr val="16191D"/>
                </a:solidFill>
                <a:latin typeface="Segoe UI"/>
              </a:rPr>
              <a:t>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3325" y="875010"/>
            <a:ext cx="217884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290" spc="77">
                <a:solidFill>
                  <a:srgbClr val="0E6E66"/>
                </a:solidFill>
                <a:latin typeface="Segoe UI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1378346"/>
            <a:ext cx="1481766" cy="577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420" spc="-68">
                <a:solidFill>
                  <a:srgbClr val="0E6E66"/>
                </a:solidFill>
                <a:latin typeface="Segoe UI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8900" y="2349103"/>
            <a:ext cx="9575688" cy="6438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70"/>
              </a:lnSpc>
            </a:pPr>
            <a:r>
              <a:rPr b="0" i="0" sz="1889">
                <a:solidFill>
                  <a:srgbClr val="16191D"/>
                </a:solidFill>
                <a:latin typeface="Segoe UI"/>
              </a:rPr>
              <a:t>the largest planet, a massive gas giant with a prominent great red spot and dozens of moons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846314"/>
            <a:ext cx="1648779" cy="260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530">
                <a:solidFill>
                  <a:srgbClr val="16191D"/>
                </a:solidFill>
                <a:latin typeface="Segoe UI"/>
              </a:rPr>
              <a:t>Bright ring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559994"/>
            <a:ext cx="1189632" cy="260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530">
                <a:solidFill>
                  <a:srgbClr val="16191D"/>
                </a:solidFill>
                <a:latin typeface="Segoe UI"/>
              </a:rPr>
              <a:t>Low densities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7900" y="5356225"/>
            <a:ext cx="920353" cy="368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70" spc="-43">
                <a:solidFill>
                  <a:srgbClr val="0E6E66"/>
                </a:solidFill>
                <a:latin typeface="Segoe UI"/>
              </a:rPr>
              <a:t>Uranus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900" y="5781278"/>
            <a:ext cx="8743463" cy="260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530">
                <a:solidFill>
                  <a:srgbClr val="3D444D"/>
                </a:solidFill>
                <a:latin typeface="Segoe UI"/>
              </a:rPr>
              <a:t>an ice giant that rotates nearly on its side, possessing a cold atmosphere and a faint ring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15669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5392" y="457200"/>
            <a:ext cx="81627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73100"/>
            <a:ext cx="2988038" cy="641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800" spc="-56">
                <a:solidFill>
                  <a:srgbClr val="0E6E66"/>
                </a:solidFill>
                <a:latin typeface="Segoe UI"/>
              </a:rPr>
              <a:t>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2203" y="911125"/>
            <a:ext cx="261342" cy="266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600" spc="95">
                <a:solidFill>
                  <a:srgbClr val="0E6E66"/>
                </a:solidFill>
                <a:latin typeface="Segoe UI"/>
              </a:rPr>
              <a:t>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1852810"/>
            <a:ext cx="2019615" cy="641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800" spc="-76">
                <a:solidFill>
                  <a:srgbClr val="0E6E66"/>
                </a:solidFill>
                <a:latin typeface="Segoe UI"/>
              </a:rPr>
              <a:t>Neptune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8900" y="2882007"/>
            <a:ext cx="5434861" cy="10808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56"/>
              </a:lnSpc>
            </a:pPr>
            <a:r>
              <a:rPr b="0" i="0" sz="2100">
                <a:solidFill>
                  <a:srgbClr val="16191D"/>
                </a:solidFill>
                <a:latin typeface="Segoe UI"/>
              </a:rPr>
              <a:t>the outermost recognized major planet and an ice giant with deep blue hues and ultra‑fast winds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808140"/>
            <a:ext cx="747216" cy="222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300" spc="26">
                <a:solidFill>
                  <a:srgbClr val="6B7380"/>
                </a:solidFill>
                <a:latin typeface="Segoe UI"/>
              </a:rPr>
              <a:t>Sun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5065315"/>
            <a:ext cx="2278759" cy="355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100">
                <a:solidFill>
                  <a:srgbClr val="16191D"/>
                </a:solidFill>
                <a:latin typeface="Segoe UI"/>
              </a:rPr>
              <a:t>Yellow dwarf 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0700" y="4808140"/>
            <a:ext cx="1782452" cy="222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300" spc="26">
                <a:solidFill>
                  <a:srgbClr val="6B7380"/>
                </a:solidFill>
                <a:latin typeface="Segoe UI"/>
              </a:rPr>
              <a:t>Sun mass proportion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0700" y="5065315"/>
            <a:ext cx="2557464" cy="6622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5"/>
              </a:lnSpc>
            </a:pPr>
            <a:r>
              <a:rPr b="1" i="0" sz="2100">
                <a:solidFill>
                  <a:srgbClr val="16191D"/>
                </a:solidFill>
                <a:latin typeface="Segoe UI"/>
              </a:rPr>
              <a:t>99.8% of total solar system mass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15669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5392" y="457200"/>
            <a:ext cx="223195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INNER AND OUTER PLANETS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66750"/>
            <a:ext cx="5961667" cy="7429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4420" spc="-66">
                <a:solidFill>
                  <a:srgbClr val="16191D"/>
                </a:solidFill>
                <a:latin typeface="Segoe UI"/>
              </a:rPr>
              <a:t>Inner vs Outer planets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023889"/>
            <a:ext cx="1426656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100" spc="88">
                <a:solidFill>
                  <a:srgbClr val="6B7380"/>
                </a:solidFill>
                <a:latin typeface="Segoe UI"/>
              </a:rPr>
              <a:t>PLANETS BY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7100" y="3500139"/>
            <a:ext cx="3401889" cy="463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730">
                <a:solidFill>
                  <a:srgbClr val="0E6E66"/>
                </a:solidFill>
                <a:latin typeface="Segoe UI"/>
              </a:rPr>
              <a:t>Inner Rocky Planets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090987"/>
            <a:ext cx="954583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Mercury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1583" y="4090987"/>
            <a:ext cx="704155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Venus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5939" y="4090987"/>
            <a:ext cx="610790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Earth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6929" y="4090987"/>
            <a:ext cx="588466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Mars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00139"/>
            <a:ext cx="4221283" cy="463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730">
                <a:solidFill>
                  <a:srgbClr val="0E6E66"/>
                </a:solidFill>
                <a:latin typeface="Segoe UI"/>
              </a:rPr>
              <a:t>Outer Gas and Ice Giants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500" y="4090987"/>
            <a:ext cx="786507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Jupiter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7207" y="4090987"/>
            <a:ext cx="760214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Saturn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7621" y="4090987"/>
            <a:ext cx="821134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Uranus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8955" y="4090987"/>
            <a:ext cx="1011336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Neptune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15669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5392" y="457200"/>
            <a:ext cx="2747089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DWARF PLANETS AND KUIPER BELT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66750"/>
            <a:ext cx="8025560" cy="7429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4420" spc="-66">
                <a:solidFill>
                  <a:srgbClr val="16191D"/>
                </a:solidFill>
                <a:latin typeface="Segoe UI"/>
              </a:rPr>
              <a:t>Dwarf Planets and Kuiper Belt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2566888"/>
            <a:ext cx="245713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3140" spc="-62">
                <a:solidFill>
                  <a:srgbClr val="0E6E66"/>
                </a:solidFill>
                <a:latin typeface="Segoe UI"/>
              </a:rPr>
              <a:t>Dwarf planet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3143547"/>
            <a:ext cx="5887837" cy="374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2210">
                <a:solidFill>
                  <a:srgbClr val="3D444D"/>
                </a:solidFill>
                <a:latin typeface="Segoe UI"/>
              </a:rPr>
              <a:t>a body that orbits the Sun but is not a planet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4103092"/>
            <a:ext cx="1913181" cy="463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2730">
                <a:solidFill>
                  <a:srgbClr val="0E6E66"/>
                </a:solidFill>
                <a:latin typeface="Segoe UI"/>
              </a:rPr>
              <a:t>Kuiper Belt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693939"/>
            <a:ext cx="617339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Pluto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4339" y="4693939"/>
            <a:ext cx="1932533" cy="336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989">
                <a:solidFill>
                  <a:srgbClr val="16191D"/>
                </a:solidFill>
                <a:latin typeface="Segoe UI"/>
              </a:rPr>
              <a:t>Other icy bodies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457200"/>
            <a:ext cx="115669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0E6E66"/>
                </a:solidFill>
                <a:latin typeface="Segoe UI Semibold"/>
              </a:rPr>
              <a:t>SOLAR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5392" y="457200"/>
            <a:ext cx="1411196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0" i="0" sz="1100" spc="88">
                <a:solidFill>
                  <a:srgbClr val="6B7380"/>
                </a:solidFill>
                <a:latin typeface="Segoe UI Semibold"/>
              </a:rPr>
              <a:t>GALACTIC BODIES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66750"/>
            <a:ext cx="4139144" cy="7429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4420" spc="-66">
                <a:solidFill>
                  <a:srgbClr val="16191D"/>
                </a:solidFill>
                <a:latin typeface="Segoe UI"/>
              </a:rPr>
              <a:t>Galactic Bodies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2292250"/>
            <a:ext cx="5033631" cy="7451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17"/>
              </a:lnSpc>
            </a:pPr>
            <a:r>
              <a:rPr b="0" i="0" sz="2210">
                <a:solidFill>
                  <a:srgbClr val="16191D"/>
                </a:solidFill>
                <a:latin typeface="Segoe UI"/>
              </a:rPr>
              <a:t>Solar system travels around Milky Way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566616"/>
            <a:ext cx="2214393" cy="5475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12"/>
              </a:lnSpc>
            </a:pPr>
            <a:r>
              <a:rPr b="1" i="0" sz="1689" spc="33">
                <a:solidFill>
                  <a:srgbClr val="6B7380"/>
                </a:solidFill>
                <a:latin typeface="Segoe UI"/>
              </a:rPr>
              <a:t>Solar system orbital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134742"/>
            <a:ext cx="2470382" cy="12608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39"/>
              </a:lnSpc>
            </a:pPr>
            <a:r>
              <a:rPr b="1" i="0" sz="2730">
                <a:solidFill>
                  <a:srgbClr val="16191D"/>
                </a:solidFill>
                <a:latin typeface="Segoe UI"/>
              </a:rPr>
              <a:t>≈514,000 miles per hour (≈828 km/s)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9700" y="3566616"/>
            <a:ext cx="1737229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b="1" i="0" sz="1689" spc="33">
                <a:solidFill>
                  <a:srgbClr val="6B7380"/>
                </a:solidFill>
                <a:latin typeface="Segoe UI"/>
              </a:rPr>
              <a:t>Full circuit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9700" y="3866554"/>
            <a:ext cx="2154656" cy="8622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39"/>
              </a:lnSpc>
            </a:pPr>
            <a:r>
              <a:rPr b="1" i="0" sz="2730">
                <a:solidFill>
                  <a:srgbClr val="16191D"/>
                </a:solidFill>
                <a:latin typeface="Segoe UI"/>
              </a:rPr>
              <a:t>≈200 million years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System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